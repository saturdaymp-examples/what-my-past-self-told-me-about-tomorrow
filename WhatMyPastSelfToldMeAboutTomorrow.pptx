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PT Sans Narrow"/>
      <p:regular r:id="rId15"/>
      <p:bold r:id="rId16"/>
    </p:embeddedFon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TSansNarrow-regular.fntdata"/><Relationship Id="rId14" Type="http://schemas.openxmlformats.org/officeDocument/2006/relationships/slide" Target="slides/slide10.xml"/><Relationship Id="rId17" Type="http://schemas.openxmlformats.org/officeDocument/2006/relationships/font" Target="fonts/OpenSans-regular.fntdata"/><Relationship Id="rId16" Type="http://schemas.openxmlformats.org/officeDocument/2006/relationships/font" Target="fonts/PTSansNarrow-bold.fntdata"/><Relationship Id="rId5" Type="http://schemas.openxmlformats.org/officeDocument/2006/relationships/slide" Target="slides/slide1.xml"/><Relationship Id="rId19" Type="http://schemas.openxmlformats.org/officeDocument/2006/relationships/font" Target="fonts/OpenSans-italic.fntdata"/><Relationship Id="rId6" Type="http://schemas.openxmlformats.org/officeDocument/2006/relationships/slide" Target="slides/slide2.xml"/><Relationship Id="rId18" Type="http://schemas.openxmlformats.org/officeDocument/2006/relationships/font" Target="fonts/OpenSa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vb.ne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4d83d985dc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4d83d985dc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Come join us at the Weekly Dev Chat (every Tuesday @ 12pm) or Legacy Code Rocks (every Wednesday @ 11am).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d001f4a9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d001f4a9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Life is full of changes.  Be ready to adapt to reality.  Give me the power to accept things I cannot change, the courage to change the things I can, and the </a:t>
            </a:r>
            <a:r>
              <a:rPr lang="en"/>
              <a:t>wisdom</a:t>
            </a:r>
            <a:r>
              <a:rPr lang="en"/>
              <a:t> to know the difference.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changed of the years and am not the same person I was 20 years ago.  Technology has also changed and we don’t </a:t>
            </a:r>
            <a:r>
              <a:rPr lang="en"/>
              <a:t>develop</a:t>
            </a:r>
            <a:r>
              <a:rPr lang="en"/>
              <a:t> software the way we did 20 years ago.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d001f4a95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d001f4a95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 47, soon to be 48 years old.  I got interested in software development when we discovered we could make our own Doom 2 (1994) levels.  First home computer was a </a:t>
            </a:r>
            <a:r>
              <a:rPr lang="en"/>
              <a:t>Commodore</a:t>
            </a:r>
            <a:r>
              <a:rPr lang="en"/>
              <a:t> 64 that I played games on and “copied” Monster Manual entries.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Bought my first computer in high school.  Can’t remember if it was a 386 or 486.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Took computing science at U of A.  During that time did TA work and also Telus Advertising Services (phone books).  Did an internship where my first </a:t>
            </a:r>
            <a:r>
              <a:rPr lang="en"/>
              <a:t>professional</a:t>
            </a:r>
            <a:r>
              <a:rPr lang="en"/>
              <a:t> language was VB6.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job was </a:t>
            </a:r>
            <a:r>
              <a:rPr lang="en" u="sng">
                <a:solidFill>
                  <a:schemeClr val="hlink"/>
                </a:solidFill>
                <a:hlinkClick r:id="rId2"/>
              </a:rPr>
              <a:t>VB.NET</a:t>
            </a:r>
            <a:r>
              <a:rPr lang="en"/>
              <a:t> 1.</a:t>
            </a:r>
            <a:r>
              <a:rPr lang="en"/>
              <a:t>1 and then 2.0.  Worked in the .NET ecosystem for many years.  Dabbled in Rails.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Started Saturday MP in 2009.  </a:t>
            </a:r>
            <a:r>
              <a:rPr lang="en">
                <a:solidFill>
                  <a:schemeClr val="dk1"/>
                </a:solidFill>
              </a:rPr>
              <a:t>Stayed in the .NET ecosystem for many years.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Worked with a company in the states that specialized in legacy code.  Did Rails, PHP, .NET,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Recently did some work on a code I wrote 20 years ago.  Was a interesting experience.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Currently client work is slow so I’m working on side projects, WDC, etc.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d0debba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d0debba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is my advice and </a:t>
            </a:r>
            <a:r>
              <a:rPr lang="en"/>
              <a:t>predictions</a:t>
            </a:r>
            <a:r>
              <a:rPr lang="en"/>
              <a:t> based on my experiences.  Adjust as needed for your own situation.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Advice</a:t>
            </a:r>
            <a:r>
              <a:rPr lang="en"/>
              <a:t> is worth what you pay for it.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d001f4a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d001f4a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should always use the best tool to get the job done.  Make sure you are trying AI (coding agents, LLMs, etc) to see when it should and shouldn’t be 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will be another abstraction.  We went from bits, to assembly, to compiled languages </a:t>
            </a:r>
            <a:r>
              <a:rPr lang="en"/>
              <a:t>(C), interpreted languages (Java, JavaScript, Ruby, Python), and now LLMs.  Java was write once and debug everywhere.  Languages like Ruby try hard to be human readable (i.e. a non-developer could understand what it’s doing).  LLMs allow programming in human language.  This will lower the barrier to entry.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Get good at reading code.  Before Coding Agents most developers spent most of their time reading code.  Now it will be even more time reading code.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are still responsible for the code generated by the LLM!!!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Deterministic AI (agents, LLMs, something else) will exist.  For now use AI to create a deterministic script/app.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Things get slowly better over time.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d001f4a95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d001f4a95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Software development will become a trade or professional occupation that will have best </a:t>
            </a:r>
            <a:r>
              <a:rPr lang="en"/>
              <a:t>practices</a:t>
            </a:r>
            <a:r>
              <a:rPr lang="en"/>
              <a:t> turned into regulations certifications.  Likely start in certain industries or companies.  </a:t>
            </a:r>
            <a:r>
              <a:rPr lang="en"/>
              <a:t>Likely</a:t>
            </a:r>
            <a:r>
              <a:rPr lang="en"/>
              <a:t> require a serious event/mistake and be implemented.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will be a better distinction between </a:t>
            </a:r>
            <a:r>
              <a:rPr lang="en"/>
              <a:t>Scientist</a:t>
            </a:r>
            <a:r>
              <a:rPr lang="en"/>
              <a:t>, </a:t>
            </a:r>
            <a:r>
              <a:rPr lang="en"/>
              <a:t>Engineer</a:t>
            </a:r>
            <a:r>
              <a:rPr lang="en"/>
              <a:t>, and Developer.  I think this distinction will be important.  I think Engineer approved applications will become a thing.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d0debba6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d0debba6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Privacy is a losing game.  Most of your info is likely out there if people want it.  You have likely given most of it willingly (Facebook and other social media).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I been pwned website.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will become more </a:t>
            </a:r>
            <a:r>
              <a:rPr lang="en"/>
              <a:t>important</a:t>
            </a:r>
            <a:r>
              <a:rPr lang="en"/>
              <a:t> to prove it’s you.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Don’t lose your access to your email, phone number, or phone.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2-factor.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Internet is </a:t>
            </a:r>
            <a:r>
              <a:rPr lang="en"/>
              <a:t>written</a:t>
            </a:r>
            <a:r>
              <a:rPr lang="en"/>
              <a:t> in ink.  Be careful what you put out there.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d0debba6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d0debba6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Random non-tech related advice in-case there was not questions.  Or a reminder of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4 items to work on: Body, Mind, Social, and Finances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Exercise.  We sit at a desk all day.  I gained weight and didn’t like it.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Mind.  Not as worried about it.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Social: Don’t just have online friends.  Have friends that will help you move a couch, visit you in the hospital, etc.</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Finances: Avoid debt, invest, spend less than you make.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 get asked often how to get a job and I’m not sure as I’ve been a consultant.  My advice is to get references, meet people, etc.  Most of my clients are through friend of friend.  Recently updating my own resume and it has been a learning experience.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All relationships end.  Death is the ultimate ending but most will end before that, especially professional ones.  End relationships on a positive note, if possible, and worst case with dignity and integrity.  Leave a trail of happiness behind you in work and life.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Independence is not doing everything yourself.  It’s knowing when to ask for help and when to help others.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710fedfaf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710fedfaf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the audience.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aturdaymp.com" TargetMode="External"/><Relationship Id="rId4" Type="http://schemas.openxmlformats.org/officeDocument/2006/relationships/hyperlink" Target="mailto:chris.cumming@satudaymp.com" TargetMode="External"/><Relationship Id="rId10" Type="http://schemas.openxmlformats.org/officeDocument/2006/relationships/image" Target="../media/image5.png"/><Relationship Id="rId9" Type="http://schemas.openxmlformats.org/officeDocument/2006/relationships/image" Target="../media/image10.png"/><Relationship Id="rId5" Type="http://schemas.openxmlformats.org/officeDocument/2006/relationships/hyperlink" Target="http://weeklydevchat.com/" TargetMode="External"/><Relationship Id="rId6" Type="http://schemas.openxmlformats.org/officeDocument/2006/relationships/hyperlink" Target="https://www.legacycode.rocks/" TargetMode="External"/><Relationship Id="rId7" Type="http://schemas.openxmlformats.org/officeDocument/2006/relationships/image" Target="../media/image3.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mailto:chris.cumming@satudaymp.com" TargetMode="External"/><Relationship Id="rId4" Type="http://schemas.openxmlformats.org/officeDocument/2006/relationships/hyperlink" Target="http://weeklydevchat.com/" TargetMode="External"/><Relationship Id="rId5" Type="http://schemas.openxmlformats.org/officeDocument/2006/relationships/hyperlink" Target="https://www.legacycode.rocks/" TargetMode="External"/><Relationship Id="rId6" Type="http://schemas.openxmlformats.org/officeDocument/2006/relationships/image" Target="../media/image2.png"/><Relationship Id="rId7" Type="http://schemas.openxmlformats.org/officeDocument/2006/relationships/image" Target="../media/image10.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600"/>
              <a:t>What my Past Self Told me About Tomorrow</a:t>
            </a:r>
            <a:endParaRPr sz="4600"/>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Chris 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 am I? (i.e. Shameless Self Promotion)</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Software Consultant</a:t>
            </a:r>
            <a:br>
              <a:rPr lang="en"/>
            </a:br>
            <a:r>
              <a:rPr lang="en" sz="1200" u="sng">
                <a:solidFill>
                  <a:schemeClr val="accent5"/>
                </a:solidFill>
                <a:hlinkClick r:id="rId3">
                  <a:extLst>
                    <a:ext uri="{A12FA001-AC4F-418D-AE19-62706E023703}">
                      <ahyp:hlinkClr val="tx"/>
                    </a:ext>
                  </a:extLst>
                </a:hlinkClick>
              </a:rPr>
              <a:t>https://saturdaymp.com</a:t>
            </a:r>
            <a:r>
              <a:rPr lang="en" sz="1200"/>
              <a:t>		</a:t>
            </a:r>
            <a:br>
              <a:rPr lang="en" sz="1200"/>
            </a:br>
            <a:r>
              <a:rPr lang="en" sz="1200" u="sng">
                <a:solidFill>
                  <a:schemeClr val="accent5"/>
                </a:solidFill>
                <a:hlinkClick r:id="rId4">
                  <a:extLst>
                    <a:ext uri="{A12FA001-AC4F-418D-AE19-62706E023703}">
                      <ahyp:hlinkClr val="tx"/>
                    </a:ext>
                  </a:extLst>
                </a:hlinkClick>
              </a:rPr>
              <a:t>chris.cumming@saturdaymp.com</a:t>
            </a:r>
            <a:r>
              <a:rPr lang="en" sz="1200"/>
              <a:t>         </a:t>
            </a:r>
            <a:br>
              <a:rPr lang="en" sz="1200"/>
            </a:br>
            <a:br>
              <a:rPr lang="en" sz="1200"/>
            </a:br>
            <a:r>
              <a:rPr lang="en"/>
              <a:t>Host of:</a:t>
            </a:r>
            <a:br>
              <a:rPr lang="en"/>
            </a:br>
            <a:r>
              <a:rPr lang="en" sz="1200" u="sng">
                <a:solidFill>
                  <a:schemeClr val="hlink"/>
                </a:solidFill>
                <a:hlinkClick r:id="rId5"/>
              </a:rPr>
              <a:t>http://weeklydevchat.com/</a:t>
            </a:r>
            <a:br>
              <a:rPr lang="en" sz="1200">
                <a:solidFill>
                  <a:schemeClr val="accent5"/>
                </a:solidFill>
                <a:latin typeface="Arial"/>
                <a:ea typeface="Arial"/>
                <a:cs typeface="Arial"/>
                <a:sym typeface="Arial"/>
              </a:rPr>
            </a:br>
            <a:r>
              <a:rPr lang="en" sz="1200" u="sng">
                <a:solidFill>
                  <a:schemeClr val="hlink"/>
                </a:solidFill>
                <a:latin typeface="Arial"/>
                <a:ea typeface="Arial"/>
                <a:cs typeface="Arial"/>
                <a:sym typeface="Arial"/>
                <a:hlinkClick r:id="rId6"/>
              </a:rPr>
              <a:t>https://www.legacycode.rocks/</a:t>
            </a:r>
            <a:endParaRPr sz="1200">
              <a:solidFill>
                <a:schemeClr val="accent5"/>
              </a:solidFill>
              <a:latin typeface="Arial"/>
              <a:ea typeface="Arial"/>
              <a:cs typeface="Arial"/>
              <a:sym typeface="Arial"/>
            </a:endParaRPr>
          </a:p>
          <a:p>
            <a:pPr indent="0" lvl="0" marL="0" rtl="0" algn="l">
              <a:spcBef>
                <a:spcPts val="1600"/>
              </a:spcBef>
              <a:spcAft>
                <a:spcPts val="0"/>
              </a:spcAft>
              <a:buNone/>
            </a:pPr>
            <a:r>
              <a:rPr lang="en"/>
              <a:t>Slacks</a:t>
            </a:r>
            <a:br>
              <a:rPr lang="en"/>
            </a:br>
            <a:r>
              <a:rPr lang="en" sz="1200">
                <a:solidFill>
                  <a:schemeClr val="accent5"/>
                </a:solidFill>
                <a:latin typeface="Arial"/>
                <a:ea typeface="Arial"/>
                <a:cs typeface="Arial"/>
                <a:sym typeface="Arial"/>
              </a:rPr>
              <a:t>Chris C on </a:t>
            </a:r>
            <a:br>
              <a:rPr lang="en" sz="1200">
                <a:solidFill>
                  <a:schemeClr val="accent5"/>
                </a:solidFill>
                <a:latin typeface="Arial"/>
                <a:ea typeface="Arial"/>
                <a:cs typeface="Arial"/>
                <a:sym typeface="Arial"/>
              </a:rPr>
            </a:br>
            <a:r>
              <a:rPr lang="en" sz="1200">
                <a:solidFill>
                  <a:schemeClr val="accent5"/>
                </a:solidFill>
                <a:latin typeface="Arial"/>
                <a:ea typeface="Arial"/>
                <a:cs typeface="Arial"/>
                <a:sym typeface="Arial"/>
              </a:rPr>
              <a:t>    Dev Edmonton</a:t>
            </a:r>
            <a:br>
              <a:rPr lang="en" sz="1200">
                <a:solidFill>
                  <a:schemeClr val="accent5"/>
                </a:solidFill>
                <a:latin typeface="Arial"/>
                <a:ea typeface="Arial"/>
                <a:cs typeface="Arial"/>
                <a:sym typeface="Arial"/>
              </a:rPr>
            </a:br>
            <a:r>
              <a:rPr lang="en" sz="1200">
                <a:solidFill>
                  <a:schemeClr val="accent5"/>
                </a:solidFill>
                <a:latin typeface="Arial"/>
                <a:ea typeface="Arial"/>
                <a:cs typeface="Arial"/>
                <a:sym typeface="Arial"/>
              </a:rPr>
              <a:t>    Legacy Code Rocks</a:t>
            </a:r>
            <a:br>
              <a:rPr lang="en" sz="1200">
                <a:solidFill>
                  <a:schemeClr val="accent5"/>
                </a:solidFill>
                <a:latin typeface="Arial"/>
                <a:ea typeface="Arial"/>
                <a:cs typeface="Arial"/>
                <a:sym typeface="Arial"/>
              </a:rPr>
            </a:br>
            <a:r>
              <a:rPr lang="en" sz="1200">
                <a:solidFill>
                  <a:schemeClr val="accent5"/>
                </a:solidFill>
                <a:latin typeface="Arial"/>
                <a:ea typeface="Arial"/>
                <a:cs typeface="Arial"/>
                <a:sym typeface="Arial"/>
              </a:rPr>
              <a:t>    yegsec</a:t>
            </a:r>
            <a:endParaRPr sz="1200">
              <a:solidFill>
                <a:schemeClr val="accent5"/>
              </a:solidFill>
              <a:latin typeface="Arial"/>
              <a:ea typeface="Arial"/>
              <a:cs typeface="Arial"/>
              <a:sym typeface="Arial"/>
            </a:endParaRPr>
          </a:p>
          <a:p>
            <a:pPr indent="0" lvl="0" marL="0" rtl="0" algn="l">
              <a:spcBef>
                <a:spcPts val="1600"/>
              </a:spcBef>
              <a:spcAft>
                <a:spcPts val="0"/>
              </a:spcAft>
              <a:buNone/>
            </a:pPr>
            <a:r>
              <a:t/>
            </a:r>
            <a:endParaRPr sz="1200">
              <a:solidFill>
                <a:schemeClr val="accent5"/>
              </a:solidFill>
              <a:latin typeface="Arial"/>
              <a:ea typeface="Arial"/>
              <a:cs typeface="Arial"/>
              <a:sym typeface="Arial"/>
            </a:endParaRPr>
          </a:p>
          <a:p>
            <a:pPr indent="0" lvl="0" marL="0" rtl="0" algn="l">
              <a:spcBef>
                <a:spcPts val="1600"/>
              </a:spcBef>
              <a:spcAft>
                <a:spcPts val="0"/>
              </a:spcAft>
              <a:buNone/>
            </a:pPr>
            <a:br>
              <a:rPr lang="en" sz="1200">
                <a:solidFill>
                  <a:schemeClr val="accent5"/>
                </a:solidFill>
                <a:latin typeface="Arial"/>
                <a:ea typeface="Arial"/>
                <a:cs typeface="Arial"/>
                <a:sym typeface="Arial"/>
              </a:rPr>
            </a:br>
            <a:br>
              <a:rPr lang="en" sz="1200">
                <a:solidFill>
                  <a:schemeClr val="accent5"/>
                </a:solidFill>
                <a:latin typeface="Arial"/>
                <a:ea typeface="Arial"/>
                <a:cs typeface="Arial"/>
                <a:sym typeface="Arial"/>
              </a:rPr>
            </a:br>
            <a:endParaRPr sz="1200">
              <a:solidFill>
                <a:schemeClr val="accent5"/>
              </a:solidFill>
              <a:latin typeface="Arial"/>
              <a:ea typeface="Arial"/>
              <a:cs typeface="Arial"/>
              <a:sym typeface="Arial"/>
            </a:endParaRPr>
          </a:p>
          <a:p>
            <a:pPr indent="0" lvl="0" marL="0" rtl="0" algn="l">
              <a:spcBef>
                <a:spcPts val="1600"/>
              </a:spcBef>
              <a:spcAft>
                <a:spcPts val="1600"/>
              </a:spcAft>
              <a:buNone/>
            </a:pPr>
            <a:br>
              <a:rPr lang="en"/>
            </a:br>
            <a:br>
              <a:rPr lang="en"/>
            </a:br>
            <a:endParaRPr/>
          </a:p>
        </p:txBody>
      </p:sp>
      <p:pic>
        <p:nvPicPr>
          <p:cNvPr id="74" name="Google Shape;74;p14"/>
          <p:cNvPicPr preferRelativeResize="0"/>
          <p:nvPr/>
        </p:nvPicPr>
        <p:blipFill>
          <a:blip r:embed="rId7">
            <a:alphaModFix/>
          </a:blip>
          <a:stretch>
            <a:fillRect/>
          </a:stretch>
        </p:blipFill>
        <p:spPr>
          <a:xfrm>
            <a:off x="3585575" y="1370502"/>
            <a:ext cx="4083550" cy="1252300"/>
          </a:xfrm>
          <a:prstGeom prst="rect">
            <a:avLst/>
          </a:prstGeom>
          <a:noFill/>
          <a:ln>
            <a:noFill/>
          </a:ln>
        </p:spPr>
      </p:pic>
      <p:pic>
        <p:nvPicPr>
          <p:cNvPr id="75" name="Google Shape;75;p14"/>
          <p:cNvPicPr preferRelativeResize="0"/>
          <p:nvPr/>
        </p:nvPicPr>
        <p:blipFill>
          <a:blip r:embed="rId8">
            <a:alphaModFix/>
          </a:blip>
          <a:stretch>
            <a:fillRect/>
          </a:stretch>
        </p:blipFill>
        <p:spPr>
          <a:xfrm>
            <a:off x="7027600" y="2840875"/>
            <a:ext cx="1600225" cy="1600225"/>
          </a:xfrm>
          <a:prstGeom prst="rect">
            <a:avLst/>
          </a:prstGeom>
          <a:noFill/>
          <a:ln>
            <a:noFill/>
          </a:ln>
        </p:spPr>
      </p:pic>
      <p:pic>
        <p:nvPicPr>
          <p:cNvPr id="76" name="Google Shape;76;p14"/>
          <p:cNvPicPr preferRelativeResize="0"/>
          <p:nvPr/>
        </p:nvPicPr>
        <p:blipFill>
          <a:blip r:embed="rId9">
            <a:alphaModFix/>
          </a:blip>
          <a:stretch>
            <a:fillRect/>
          </a:stretch>
        </p:blipFill>
        <p:spPr>
          <a:xfrm>
            <a:off x="3585575" y="2762375"/>
            <a:ext cx="2857500" cy="809625"/>
          </a:xfrm>
          <a:prstGeom prst="rect">
            <a:avLst/>
          </a:prstGeom>
          <a:noFill/>
          <a:ln>
            <a:noFill/>
          </a:ln>
        </p:spPr>
      </p:pic>
      <p:pic>
        <p:nvPicPr>
          <p:cNvPr id="77" name="Google Shape;77;p14"/>
          <p:cNvPicPr preferRelativeResize="0"/>
          <p:nvPr/>
        </p:nvPicPr>
        <p:blipFill>
          <a:blip r:embed="rId10">
            <a:alphaModFix/>
          </a:blip>
          <a:stretch>
            <a:fillRect/>
          </a:stretch>
        </p:blipFill>
        <p:spPr>
          <a:xfrm>
            <a:off x="3585575" y="3846815"/>
            <a:ext cx="3137549" cy="62751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Only Thing Constant is Change</a:t>
            </a:r>
            <a:endParaRPr/>
          </a:p>
        </p:txBody>
      </p:sp>
      <p:sp>
        <p:nvSpPr>
          <p:cNvPr id="83" name="Google Shape;83;p15"/>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pic>
        <p:nvPicPr>
          <p:cNvPr id="84" name="Google Shape;84;p15"/>
          <p:cNvPicPr preferRelativeResize="0"/>
          <p:nvPr/>
        </p:nvPicPr>
        <p:blipFill>
          <a:blip r:embed="rId3">
            <a:alphaModFix/>
          </a:blip>
          <a:stretch>
            <a:fillRect/>
          </a:stretch>
        </p:blipFill>
        <p:spPr>
          <a:xfrm>
            <a:off x="471762" y="1542874"/>
            <a:ext cx="8200476" cy="257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Past and Present Self</a:t>
            </a:r>
            <a:endParaRPr/>
          </a:p>
        </p:txBody>
      </p:sp>
      <p:sp>
        <p:nvSpPr>
          <p:cNvPr id="90" name="Google Shape;90;p1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91" name="Google Shape;91;p16" title="IMG_1476.jpeg"/>
          <p:cNvPicPr preferRelativeResize="0"/>
          <p:nvPr/>
        </p:nvPicPr>
        <p:blipFill>
          <a:blip r:embed="rId3">
            <a:alphaModFix/>
          </a:blip>
          <a:stretch>
            <a:fillRect/>
          </a:stretch>
        </p:blipFill>
        <p:spPr>
          <a:xfrm rot="-5400000">
            <a:off x="2643187" y="509487"/>
            <a:ext cx="3857626"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Disclamer</a:t>
            </a:r>
            <a:endParaRPr/>
          </a:p>
        </p:txBody>
      </p:sp>
      <p:sp>
        <p:nvSpPr>
          <p:cNvPr id="97" name="Google Shape;97;p17"/>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98" name="Google Shape;98;p17"/>
          <p:cNvPicPr preferRelativeResize="0"/>
          <p:nvPr/>
        </p:nvPicPr>
        <p:blipFill>
          <a:blip r:embed="rId3">
            <a:alphaModFix/>
          </a:blip>
          <a:stretch>
            <a:fillRect/>
          </a:stretch>
        </p:blipFill>
        <p:spPr>
          <a:xfrm>
            <a:off x="2601075" y="1375975"/>
            <a:ext cx="3375825" cy="3353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Tomorrow - AI</a:t>
            </a:r>
            <a:endParaRPr/>
          </a:p>
        </p:txBody>
      </p:sp>
      <p:sp>
        <p:nvSpPr>
          <p:cNvPr id="104" name="Google Shape;104;p18"/>
          <p:cNvSpPr txBox="1"/>
          <p:nvPr>
            <p:ph idx="1" type="body"/>
          </p:nvPr>
        </p:nvSpPr>
        <p:spPr>
          <a:xfrm>
            <a:off x="311700" y="1257850"/>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05" name="Google Shape;105;p18"/>
          <p:cNvPicPr preferRelativeResize="0"/>
          <p:nvPr/>
        </p:nvPicPr>
        <p:blipFill>
          <a:blip r:embed="rId3">
            <a:alphaModFix/>
          </a:blip>
          <a:stretch>
            <a:fillRect/>
          </a:stretch>
        </p:blipFill>
        <p:spPr>
          <a:xfrm>
            <a:off x="3193250" y="1210225"/>
            <a:ext cx="2271450" cy="3433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Tomorrow</a:t>
            </a:r>
            <a:r>
              <a:rPr lang="en"/>
              <a:t> - Qualifications and Regulations</a:t>
            </a:r>
            <a:endParaRPr/>
          </a:p>
        </p:txBody>
      </p:sp>
      <p:sp>
        <p:nvSpPr>
          <p:cNvPr id="111" name="Google Shape;111;p19"/>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2" name="Google Shape;112;p19"/>
          <p:cNvPicPr preferRelativeResize="0"/>
          <p:nvPr/>
        </p:nvPicPr>
        <p:blipFill>
          <a:blip r:embed="rId3">
            <a:alphaModFix/>
          </a:blip>
          <a:stretch>
            <a:fillRect/>
          </a:stretch>
        </p:blipFill>
        <p:spPr>
          <a:xfrm>
            <a:off x="2389600" y="1266325"/>
            <a:ext cx="3633100" cy="3633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Tomorrow - Security and Privacy</a:t>
            </a:r>
            <a:endParaRPr/>
          </a:p>
        </p:txBody>
      </p:sp>
      <p:sp>
        <p:nvSpPr>
          <p:cNvPr id="118" name="Google Shape;118;p20"/>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9" name="Google Shape;119;p20"/>
          <p:cNvPicPr preferRelativeResize="0"/>
          <p:nvPr/>
        </p:nvPicPr>
        <p:blipFill>
          <a:blip r:embed="rId3">
            <a:alphaModFix/>
          </a:blip>
          <a:stretch>
            <a:fillRect/>
          </a:stretch>
        </p:blipFill>
        <p:spPr>
          <a:xfrm>
            <a:off x="1061251" y="1366200"/>
            <a:ext cx="7165525" cy="3025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Questions?</a:t>
            </a:r>
            <a:endParaRPr/>
          </a:p>
        </p:txBody>
      </p:sp>
      <p:sp>
        <p:nvSpPr>
          <p:cNvPr id="125" name="Google Shape;125;p21"/>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pic>
        <p:nvPicPr>
          <p:cNvPr id="126" name="Google Shape;126;p21"/>
          <p:cNvPicPr preferRelativeResize="0"/>
          <p:nvPr/>
        </p:nvPicPr>
        <p:blipFill>
          <a:blip r:embed="rId3">
            <a:alphaModFix/>
          </a:blip>
          <a:stretch>
            <a:fillRect/>
          </a:stretch>
        </p:blipFill>
        <p:spPr>
          <a:xfrm>
            <a:off x="2674375" y="979088"/>
            <a:ext cx="3877174" cy="3877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Questions?</a:t>
            </a:r>
            <a:endParaRPr/>
          </a:p>
        </p:txBody>
      </p:sp>
      <p:sp>
        <p:nvSpPr>
          <p:cNvPr id="132" name="Google Shape;132;p22"/>
          <p:cNvSpPr txBox="1"/>
          <p:nvPr>
            <p:ph idx="1" type="body"/>
          </p:nvPr>
        </p:nvSpPr>
        <p:spPr>
          <a:xfrm>
            <a:off x="311700" y="1266325"/>
            <a:ext cx="42921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33444C"/>
              </a:solidFill>
              <a:highlight>
                <a:srgbClr val="FFFFFF"/>
              </a:highlight>
              <a:latin typeface="Arial"/>
              <a:ea typeface="Arial"/>
              <a:cs typeface="Arial"/>
              <a:sym typeface="Arial"/>
            </a:endParaRPr>
          </a:p>
          <a:p>
            <a:pPr indent="0" lvl="0" marL="0" rtl="0" algn="l">
              <a:lnSpc>
                <a:spcPct val="133333"/>
              </a:lnSpc>
              <a:spcBef>
                <a:spcPts val="1600"/>
              </a:spcBef>
              <a:spcAft>
                <a:spcPts val="0"/>
              </a:spcAft>
              <a:buNone/>
            </a:pPr>
            <a:r>
              <a:t/>
            </a:r>
            <a:endParaRPr sz="1200">
              <a:solidFill>
                <a:srgbClr val="33444C"/>
              </a:solidFill>
              <a:highlight>
                <a:srgbClr val="FFFFFF"/>
              </a:highlight>
              <a:latin typeface="Arial"/>
              <a:ea typeface="Arial"/>
              <a:cs typeface="Arial"/>
              <a:sym typeface="Arial"/>
            </a:endParaRPr>
          </a:p>
          <a:p>
            <a:pPr indent="0" lvl="0" marL="0" rtl="0" algn="l">
              <a:lnSpc>
                <a:spcPct val="133333"/>
              </a:lnSpc>
              <a:spcBef>
                <a:spcPts val="1500"/>
              </a:spcBef>
              <a:spcAft>
                <a:spcPts val="800"/>
              </a:spcAft>
              <a:buNone/>
            </a:pPr>
            <a:r>
              <a:t/>
            </a:r>
            <a:endParaRPr sz="1200">
              <a:solidFill>
                <a:srgbClr val="33444C"/>
              </a:solidFill>
              <a:highlight>
                <a:srgbClr val="FFFFFF"/>
              </a:highlight>
              <a:latin typeface="Arial"/>
              <a:ea typeface="Arial"/>
              <a:cs typeface="Arial"/>
              <a:sym typeface="Arial"/>
            </a:endParaRPr>
          </a:p>
        </p:txBody>
      </p:sp>
      <p:sp>
        <p:nvSpPr>
          <p:cNvPr id="133" name="Google Shape;133;p22"/>
          <p:cNvSpPr txBox="1"/>
          <p:nvPr>
            <p:ph idx="1" type="body"/>
          </p:nvPr>
        </p:nvSpPr>
        <p:spPr>
          <a:xfrm>
            <a:off x="375275" y="11524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3444C"/>
                </a:solidFill>
                <a:highlight>
                  <a:schemeClr val="lt1"/>
                </a:highlight>
                <a:latin typeface="Arial"/>
                <a:ea typeface="Arial"/>
                <a:cs typeface="Arial"/>
                <a:sym typeface="Arial"/>
              </a:rPr>
              <a:t>Email:</a:t>
            </a:r>
            <a:br>
              <a:rPr lang="en" sz="1200"/>
            </a:br>
            <a:r>
              <a:rPr lang="en" sz="1200" u="sng">
                <a:solidFill>
                  <a:schemeClr val="accent5"/>
                </a:solidFill>
                <a:hlinkClick r:id="rId3">
                  <a:extLst>
                    <a:ext uri="{A12FA001-AC4F-418D-AE19-62706E023703}">
                      <ahyp:hlinkClr val="tx"/>
                    </a:ext>
                  </a:extLst>
                </a:hlinkClick>
              </a:rPr>
              <a:t>chris.cumming@saturdaymp.com</a:t>
            </a:r>
            <a:r>
              <a:rPr lang="en" sz="1200"/>
              <a:t>         </a:t>
            </a:r>
            <a:br>
              <a:rPr lang="en" sz="1200"/>
            </a:br>
            <a:endParaRPr sz="1200"/>
          </a:p>
          <a:p>
            <a:pPr indent="0" lvl="0" marL="0" rtl="0" algn="l">
              <a:spcBef>
                <a:spcPts val="1600"/>
              </a:spcBef>
              <a:spcAft>
                <a:spcPts val="0"/>
              </a:spcAft>
              <a:buNone/>
            </a:pPr>
            <a:r>
              <a:rPr lang="en">
                <a:solidFill>
                  <a:srgbClr val="33444C"/>
                </a:solidFill>
                <a:highlight>
                  <a:schemeClr val="lt1"/>
                </a:highlight>
                <a:latin typeface="Arial"/>
                <a:ea typeface="Arial"/>
                <a:cs typeface="Arial"/>
                <a:sym typeface="Arial"/>
              </a:rPr>
              <a:t>Slack:</a:t>
            </a:r>
            <a:br>
              <a:rPr lang="en">
                <a:solidFill>
                  <a:srgbClr val="33444C"/>
                </a:solidFill>
                <a:highlight>
                  <a:schemeClr val="lt1"/>
                </a:highlight>
                <a:latin typeface="Arial"/>
                <a:ea typeface="Arial"/>
                <a:cs typeface="Arial"/>
                <a:sym typeface="Arial"/>
              </a:rPr>
            </a:br>
            <a:r>
              <a:rPr lang="en" sz="1200">
                <a:solidFill>
                  <a:schemeClr val="accent5"/>
                </a:solidFill>
                <a:latin typeface="Arial"/>
                <a:ea typeface="Arial"/>
                <a:cs typeface="Arial"/>
                <a:sym typeface="Arial"/>
              </a:rPr>
              <a:t>Dev Edmonton</a:t>
            </a:r>
            <a:br>
              <a:rPr lang="en" sz="1200">
                <a:solidFill>
                  <a:schemeClr val="accent5"/>
                </a:solidFill>
                <a:latin typeface="Arial"/>
                <a:ea typeface="Arial"/>
                <a:cs typeface="Arial"/>
                <a:sym typeface="Arial"/>
              </a:rPr>
            </a:br>
            <a:r>
              <a:rPr lang="en" sz="1200">
                <a:solidFill>
                  <a:schemeClr val="accent5"/>
                </a:solidFill>
                <a:latin typeface="Arial"/>
                <a:ea typeface="Arial"/>
                <a:cs typeface="Arial"/>
                <a:sym typeface="Arial"/>
              </a:rPr>
              <a:t>    Legacy Code Rocks</a:t>
            </a:r>
            <a:br>
              <a:rPr lang="en" sz="1200">
                <a:solidFill>
                  <a:schemeClr val="accent5"/>
                </a:solidFill>
                <a:latin typeface="Arial"/>
                <a:ea typeface="Arial"/>
                <a:cs typeface="Arial"/>
                <a:sym typeface="Arial"/>
              </a:rPr>
            </a:br>
            <a:r>
              <a:rPr lang="en" sz="1200">
                <a:solidFill>
                  <a:schemeClr val="accent5"/>
                </a:solidFill>
                <a:latin typeface="Arial"/>
                <a:ea typeface="Arial"/>
                <a:cs typeface="Arial"/>
                <a:sym typeface="Arial"/>
              </a:rPr>
              <a:t>    yegsec</a:t>
            </a:r>
            <a:endParaRPr>
              <a:solidFill>
                <a:srgbClr val="33444C"/>
              </a:solidFill>
              <a:highlight>
                <a:schemeClr val="lt1"/>
              </a:highlight>
              <a:latin typeface="Arial"/>
              <a:ea typeface="Arial"/>
              <a:cs typeface="Arial"/>
              <a:sym typeface="Arial"/>
            </a:endParaRPr>
          </a:p>
          <a:p>
            <a:pPr indent="0" lvl="0" marL="0" rtl="0" algn="l">
              <a:spcBef>
                <a:spcPts val="1600"/>
              </a:spcBef>
              <a:spcAft>
                <a:spcPts val="0"/>
              </a:spcAft>
              <a:buNone/>
            </a:pPr>
            <a:br>
              <a:rPr lang="en" sz="1200"/>
            </a:br>
            <a:r>
              <a:rPr lang="en"/>
              <a:t>Join:</a:t>
            </a:r>
            <a:br>
              <a:rPr lang="en"/>
            </a:br>
            <a:r>
              <a:rPr lang="en" sz="1200" u="sng">
                <a:solidFill>
                  <a:schemeClr val="accent5"/>
                </a:solidFill>
                <a:hlinkClick r:id="rId4">
                  <a:extLst>
                    <a:ext uri="{A12FA001-AC4F-418D-AE19-62706E023703}">
                      <ahyp:hlinkClr val="tx"/>
                    </a:ext>
                  </a:extLst>
                </a:hlinkClick>
              </a:rPr>
              <a:t>http://weeklydevchat.com/</a:t>
            </a:r>
            <a:br>
              <a:rPr lang="en" sz="1200">
                <a:solidFill>
                  <a:schemeClr val="accent5"/>
                </a:solidFill>
                <a:latin typeface="Arial"/>
                <a:ea typeface="Arial"/>
                <a:cs typeface="Arial"/>
                <a:sym typeface="Arial"/>
              </a:rPr>
            </a:br>
            <a:r>
              <a:rPr lang="en" sz="1200" u="sng">
                <a:solidFill>
                  <a:schemeClr val="accent5"/>
                </a:solidFill>
                <a:latin typeface="Arial"/>
                <a:ea typeface="Arial"/>
                <a:cs typeface="Arial"/>
                <a:sym typeface="Arial"/>
                <a:hlinkClick r:id="rId5">
                  <a:extLst>
                    <a:ext uri="{A12FA001-AC4F-418D-AE19-62706E023703}">
                      <ahyp:hlinkClr val="tx"/>
                    </a:ext>
                  </a:extLst>
                </a:hlinkClick>
              </a:rPr>
              <a:t>https://www.legacycode.rocks/</a:t>
            </a:r>
            <a:endParaRPr sz="1200">
              <a:solidFill>
                <a:srgbClr val="33444C"/>
              </a:solidFill>
              <a:highlight>
                <a:srgbClr val="FFFFFF"/>
              </a:highlight>
              <a:latin typeface="Arial"/>
              <a:ea typeface="Arial"/>
              <a:cs typeface="Arial"/>
              <a:sym typeface="Arial"/>
            </a:endParaRPr>
          </a:p>
          <a:p>
            <a:pPr indent="0" lvl="0" marL="0" rtl="0" algn="l">
              <a:lnSpc>
                <a:spcPct val="133333"/>
              </a:lnSpc>
              <a:spcBef>
                <a:spcPts val="1600"/>
              </a:spcBef>
              <a:spcAft>
                <a:spcPts val="0"/>
              </a:spcAft>
              <a:buNone/>
            </a:pPr>
            <a:r>
              <a:t/>
            </a:r>
            <a:endParaRPr sz="1200">
              <a:solidFill>
                <a:srgbClr val="33444C"/>
              </a:solidFill>
              <a:highlight>
                <a:srgbClr val="FFFFFF"/>
              </a:highlight>
              <a:latin typeface="Arial"/>
              <a:ea typeface="Arial"/>
              <a:cs typeface="Arial"/>
              <a:sym typeface="Arial"/>
            </a:endParaRPr>
          </a:p>
          <a:p>
            <a:pPr indent="0" lvl="0" marL="0" rtl="0" algn="l">
              <a:lnSpc>
                <a:spcPct val="133333"/>
              </a:lnSpc>
              <a:spcBef>
                <a:spcPts val="1500"/>
              </a:spcBef>
              <a:spcAft>
                <a:spcPts val="0"/>
              </a:spcAft>
              <a:buNone/>
            </a:pPr>
            <a:r>
              <a:t/>
            </a:r>
            <a:endParaRPr sz="1200">
              <a:solidFill>
                <a:srgbClr val="33444C"/>
              </a:solidFill>
              <a:highlight>
                <a:srgbClr val="FFFFFF"/>
              </a:highlight>
              <a:latin typeface="Arial"/>
              <a:ea typeface="Arial"/>
              <a:cs typeface="Arial"/>
              <a:sym typeface="Arial"/>
            </a:endParaRPr>
          </a:p>
          <a:p>
            <a:pPr indent="0" lvl="0" marL="0" rtl="0" algn="l">
              <a:lnSpc>
                <a:spcPct val="133333"/>
              </a:lnSpc>
              <a:spcBef>
                <a:spcPts val="1500"/>
              </a:spcBef>
              <a:spcAft>
                <a:spcPts val="0"/>
              </a:spcAft>
              <a:buNone/>
            </a:pPr>
            <a:r>
              <a:t/>
            </a:r>
            <a:endParaRPr sz="1200">
              <a:solidFill>
                <a:srgbClr val="33444C"/>
              </a:solidFill>
              <a:highlight>
                <a:srgbClr val="FFFFFF"/>
              </a:highlight>
              <a:latin typeface="Arial"/>
              <a:ea typeface="Arial"/>
              <a:cs typeface="Arial"/>
              <a:sym typeface="Arial"/>
            </a:endParaRPr>
          </a:p>
          <a:p>
            <a:pPr indent="0" lvl="0" marL="0" rtl="0" algn="l">
              <a:lnSpc>
                <a:spcPct val="133333"/>
              </a:lnSpc>
              <a:spcBef>
                <a:spcPts val="1500"/>
              </a:spcBef>
              <a:spcAft>
                <a:spcPts val="800"/>
              </a:spcAft>
              <a:buNone/>
            </a:pPr>
            <a:r>
              <a:t/>
            </a:r>
            <a:endParaRPr sz="1200">
              <a:solidFill>
                <a:srgbClr val="33444C"/>
              </a:solidFill>
              <a:highlight>
                <a:srgbClr val="FFFFFF"/>
              </a:highlight>
              <a:latin typeface="Arial"/>
              <a:ea typeface="Arial"/>
              <a:cs typeface="Arial"/>
              <a:sym typeface="Arial"/>
            </a:endParaRPr>
          </a:p>
        </p:txBody>
      </p:sp>
      <p:pic>
        <p:nvPicPr>
          <p:cNvPr id="134" name="Google Shape;134;p22"/>
          <p:cNvPicPr preferRelativeResize="0"/>
          <p:nvPr/>
        </p:nvPicPr>
        <p:blipFill>
          <a:blip r:embed="rId6">
            <a:alphaModFix/>
          </a:blip>
          <a:stretch>
            <a:fillRect/>
          </a:stretch>
        </p:blipFill>
        <p:spPr>
          <a:xfrm>
            <a:off x="6441525" y="1581950"/>
            <a:ext cx="2206950" cy="2206950"/>
          </a:xfrm>
          <a:prstGeom prst="rect">
            <a:avLst/>
          </a:prstGeom>
          <a:noFill/>
          <a:ln>
            <a:noFill/>
          </a:ln>
        </p:spPr>
      </p:pic>
      <p:pic>
        <p:nvPicPr>
          <p:cNvPr id="135" name="Google Shape;135;p22"/>
          <p:cNvPicPr preferRelativeResize="0"/>
          <p:nvPr/>
        </p:nvPicPr>
        <p:blipFill>
          <a:blip r:embed="rId7">
            <a:alphaModFix/>
          </a:blip>
          <a:stretch>
            <a:fillRect/>
          </a:stretch>
        </p:blipFill>
        <p:spPr>
          <a:xfrm>
            <a:off x="3206825" y="3122175"/>
            <a:ext cx="2857500" cy="809625"/>
          </a:xfrm>
          <a:prstGeom prst="rect">
            <a:avLst/>
          </a:prstGeom>
          <a:noFill/>
          <a:ln>
            <a:noFill/>
          </a:ln>
        </p:spPr>
      </p:pic>
      <p:pic>
        <p:nvPicPr>
          <p:cNvPr id="136" name="Google Shape;136;p22"/>
          <p:cNvPicPr preferRelativeResize="0"/>
          <p:nvPr/>
        </p:nvPicPr>
        <p:blipFill>
          <a:blip r:embed="rId8">
            <a:alphaModFix/>
          </a:blip>
          <a:stretch>
            <a:fillRect/>
          </a:stretch>
        </p:blipFill>
        <p:spPr>
          <a:xfrm>
            <a:off x="3118975" y="1734115"/>
            <a:ext cx="3137549" cy="62751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